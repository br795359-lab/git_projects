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sldIdLst>
    <p:sldId id="264" r:id="rId5"/>
    <p:sldId id="314" r:id="rId6"/>
    <p:sldId id="313" r:id="rId7"/>
    <p:sldId id="315" r:id="rId8"/>
    <p:sldId id="316" r:id="rId9"/>
    <p:sldId id="317" r:id="rId10"/>
    <p:sldId id="318" r:id="rId11"/>
    <p:sldId id="319" r:id="rId12"/>
    <p:sldId id="32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7" d="100"/>
          <a:sy n="77" d="100"/>
        </p:scale>
        <p:origin x="8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 Thangidigi" userId="606bbf0010678e36" providerId="LiveId" clId="{6E4722BF-3231-4024-A504-F2D7D1FA2AA6}"/>
    <pc:docChg chg="custSel modSld">
      <pc:chgData name="Tara Thangidigi" userId="606bbf0010678e36" providerId="LiveId" clId="{6E4722BF-3231-4024-A504-F2D7D1FA2AA6}" dt="2025-12-30T08:54:32.638" v="1" actId="313"/>
      <pc:docMkLst>
        <pc:docMk/>
      </pc:docMkLst>
      <pc:sldChg chg="modSp mod">
        <pc:chgData name="Tara Thangidigi" userId="606bbf0010678e36" providerId="LiveId" clId="{6E4722BF-3231-4024-A504-F2D7D1FA2AA6}" dt="2025-12-30T08:54:32.638" v="1" actId="313"/>
        <pc:sldMkLst>
          <pc:docMk/>
          <pc:sldMk cId="2112548693" sldId="315"/>
        </pc:sldMkLst>
        <pc:spChg chg="mod">
          <ac:chgData name="Tara Thangidigi" userId="606bbf0010678e36" providerId="LiveId" clId="{6E4722BF-3231-4024-A504-F2D7D1FA2AA6}" dt="2025-12-30T08:54:32.638" v="1" actId="313"/>
          <ac:spMkLst>
            <pc:docMk/>
            <pc:sldMk cId="2112548693" sldId="315"/>
            <ac:spMk id="6" creationId="{60105DE1-7429-13AB-8B83-A2FEC75C4B4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12/30/2025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9870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12/30/2025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84701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7588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12/30/2025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0058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12/30/2025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073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12/30/2025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358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12/30/2025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7532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12/30/2025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3216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12/30/2025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9103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12/30/2025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090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hyperlink" Target="https://www.bing.com/ck/a?!&amp;&amp;p=37fb8eac5de33fa6cec93547c702c53a755ee025b06a21918933e0832d7e30fbJmltdHM9MTc2NzA1MjgwMA&amp;ptn=3&amp;ver=2&amp;hsh=4&amp;fclid=2edfc3ad-a794-67d8-0a32-d594a69e66bb&amp;u=a1aHR0cHM6Ly93d3cuZ2Vla3Nmb3JnZWVrcy5vcmcvd2Vic2l0ZXMtYXBwcy9ob3NwaXRhbC1tYW5hZ2VtZW50LXN5c3RlbS1wcm9qZWN0LWluLXNvZnR3YXJlLWRldmVsb3BtZW50Lw&amp;ntb=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flower illustrations">
            <a:extLst>
              <a:ext uri="{FF2B5EF4-FFF2-40B4-BE49-F238E27FC236}">
                <a16:creationId xmlns:a16="http://schemas.microsoft.com/office/drawing/2014/main" id="{46768272-0F6A-4E58-A45C-F10D015D8952}"/>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0" y="-839"/>
            <a:ext cx="12191980" cy="6858000"/>
          </a:xfrm>
          <a:prstGeom prst="rect">
            <a:avLst/>
          </a:prstGeom>
        </p:spPr>
      </p:pic>
      <p:sp useBgFill="1">
        <p:nvSpPr>
          <p:cNvPr id="73" name="Rectangle 72">
            <a:extLst>
              <a:ext uri="{FF2B5EF4-FFF2-40B4-BE49-F238E27FC236}">
                <a16:creationId xmlns:a16="http://schemas.microsoft.com/office/drawing/2014/main" id="{BF9FFE17-DE95-4821-ACC1-B90C95449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75" name="Rectangle 74">
            <a:extLst>
              <a:ext uri="{FF2B5EF4-FFF2-40B4-BE49-F238E27FC236}">
                <a16:creationId xmlns:a16="http://schemas.microsoft.com/office/drawing/2014/main" id="{03CF76AF-FF72-4430-A772-058403290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771132" y="2091263"/>
            <a:ext cx="8649738" cy="2590800"/>
          </a:xfrm>
        </p:spPr>
        <p:txBody>
          <a:bodyPr>
            <a:normAutofit/>
          </a:bodyPr>
          <a:lstStyle/>
          <a:p>
            <a:r>
              <a:rPr lang="en-US" sz="6000" dirty="0"/>
              <a:t>Hospital Patient Management System</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1771130" y="4682062"/>
            <a:ext cx="8652788" cy="457201"/>
          </a:xfrm>
        </p:spPr>
        <p:txBody>
          <a:bodyPr>
            <a:normAutofit/>
          </a:bodyPr>
          <a:lstStyle/>
          <a:p>
            <a:pPr>
              <a:spcAft>
                <a:spcPts val="600"/>
              </a:spcAft>
            </a:pPr>
            <a:r>
              <a:rPr lang="en-US" sz="1800" dirty="0"/>
              <a:t>R Vishwak, B Divya, T </a:t>
            </a:r>
            <a:r>
              <a:rPr lang="en-US" sz="1800" dirty="0" err="1"/>
              <a:t>Tarasree</a:t>
            </a:r>
            <a:r>
              <a:rPr lang="en-US" sz="1800" dirty="0"/>
              <a:t>, D Bhasker</a:t>
            </a:r>
          </a:p>
        </p:txBody>
      </p:sp>
      <p:sp>
        <p:nvSpPr>
          <p:cNvPr id="77" name="Rectangle 76">
            <a:extLst>
              <a:ext uri="{FF2B5EF4-FFF2-40B4-BE49-F238E27FC236}">
                <a16:creationId xmlns:a16="http://schemas.microsoft.com/office/drawing/2014/main" id="{0B1C8180-2FDD-4202-8C45-4057CB1AB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9" name="Straight Connector 78">
            <a:extLst>
              <a:ext uri="{FF2B5EF4-FFF2-40B4-BE49-F238E27FC236}">
                <a16:creationId xmlns:a16="http://schemas.microsoft.com/office/drawing/2014/main" id="{D6E86CC6-13EA-4A88-86AD-CF27BF52CC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F80B441-4F7D-4B40-8A13-FED03A1F3A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0C7FD1A-44B1-4E4C-B0C9-A8103DCCDC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02CB-379F-7DA7-364A-2EA390ECFAE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2931343D-5B64-3A7B-4722-96BD1362D2CE}"/>
              </a:ext>
            </a:extLst>
          </p:cNvPr>
          <p:cNvSpPr>
            <a:spLocks noGrp="1"/>
          </p:cNvSpPr>
          <p:nvPr>
            <p:ph idx="1"/>
          </p:nvPr>
        </p:nvSpPr>
        <p:spPr/>
        <p:txBody>
          <a:bodyPr/>
          <a:lstStyle/>
          <a:p>
            <a:r>
              <a:rPr lang="en-US" sz="2400" dirty="0">
                <a:solidFill>
                  <a:schemeClr val="tx1">
                    <a:lumMod val="95000"/>
                    <a:lumOff val="5000"/>
                  </a:schemeClr>
                </a:solidFill>
                <a:hlinkClick r:id="rId2">
                  <a:extLst>
                    <a:ext uri="{A12FA001-AC4F-418D-AE19-62706E023703}">
                      <ahyp:hlinkClr xmlns:ahyp="http://schemas.microsoft.com/office/drawing/2018/hyperlinkcolor" val="tx"/>
                    </a:ext>
                  </a:extLst>
                </a:hlinkClick>
              </a:rPr>
              <a:t>hospital patient management system involves several key steps, including requirements analysis, use cases, data modeling, process modeling, and system design. These steps are crucial for ensuring that the system meets the needs of the hospital and its stakeholders. The SDLC process helps in documenting the entire development process, from initial requirements gathering to detailed system design, ensuring that the final product is a comprehensive and effective solution for the hospital's patient management needs. </a:t>
            </a:r>
            <a:endParaRPr lang="en-US" sz="2400" dirty="0">
              <a:solidFill>
                <a:schemeClr val="tx1">
                  <a:lumMod val="95000"/>
                  <a:lumOff val="5000"/>
                </a:schemeClr>
              </a:solidFill>
            </a:endParaRPr>
          </a:p>
          <a:p>
            <a:endParaRPr lang="en-IN" dirty="0"/>
          </a:p>
        </p:txBody>
      </p:sp>
    </p:spTree>
    <p:extLst>
      <p:ext uri="{BB962C8B-B14F-4D97-AF65-F5344CB8AC3E}">
        <p14:creationId xmlns:p14="http://schemas.microsoft.com/office/powerpoint/2010/main" val="2178718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9DEB-6855-852C-3723-740E881DA639}"/>
              </a:ext>
            </a:extLst>
          </p:cNvPr>
          <p:cNvSpPr>
            <a:spLocks noGrp="1"/>
          </p:cNvSpPr>
          <p:nvPr>
            <p:ph type="title"/>
          </p:nvPr>
        </p:nvSpPr>
        <p:spPr/>
        <p:txBody>
          <a:bodyPr/>
          <a:lstStyle/>
          <a:p>
            <a:r>
              <a:rPr lang="en-IN" dirty="0"/>
              <a:t>Stake holder Interview</a:t>
            </a:r>
          </a:p>
        </p:txBody>
      </p:sp>
      <p:sp>
        <p:nvSpPr>
          <p:cNvPr id="3" name="Content Placeholder 2">
            <a:extLst>
              <a:ext uri="{FF2B5EF4-FFF2-40B4-BE49-F238E27FC236}">
                <a16:creationId xmlns:a16="http://schemas.microsoft.com/office/drawing/2014/main" id="{6A1AB0BA-4D22-4CF4-0C0C-468AB81D9C06}"/>
              </a:ext>
            </a:extLst>
          </p:cNvPr>
          <p:cNvSpPr>
            <a:spLocks noGrp="1"/>
          </p:cNvSpPr>
          <p:nvPr>
            <p:ph idx="1"/>
          </p:nvPr>
        </p:nvSpPr>
        <p:spPr/>
        <p:txBody>
          <a:bodyPr/>
          <a:lstStyle/>
          <a:p>
            <a:r>
              <a:rPr lang="en-IN" dirty="0"/>
              <a:t>Stake holder: </a:t>
            </a:r>
          </a:p>
          <a:p>
            <a:pPr marL="0" indent="0">
              <a:buNone/>
            </a:pPr>
            <a:r>
              <a:rPr lang="en-IN" dirty="0"/>
              <a:t>	Hospital Administrator, Doctor, Nurses, Receptionist, Patients</a:t>
            </a:r>
          </a:p>
          <a:p>
            <a:pPr marL="0" indent="0">
              <a:buNone/>
            </a:pPr>
            <a:r>
              <a:rPr lang="en-IN" dirty="0"/>
              <a:t>Interview questions:</a:t>
            </a:r>
          </a:p>
          <a:p>
            <a:pPr marL="342900" indent="-342900">
              <a:buAutoNum type="arabicPeriod"/>
            </a:pPr>
            <a:r>
              <a:rPr lang="en-IN" dirty="0"/>
              <a:t>What patient details need to be stored?</a:t>
            </a:r>
          </a:p>
          <a:p>
            <a:pPr marL="342900" indent="-342900">
              <a:buAutoNum type="arabicPeriod"/>
            </a:pPr>
            <a:r>
              <a:rPr lang="en-IN" dirty="0"/>
              <a:t>How should new patients be registered?</a:t>
            </a:r>
          </a:p>
          <a:p>
            <a:pPr marL="342900" indent="-342900">
              <a:buAutoNum type="arabicPeriod"/>
            </a:pPr>
            <a:r>
              <a:rPr lang="en-IN" dirty="0"/>
              <a:t>Should patient records be editable?</a:t>
            </a:r>
          </a:p>
          <a:p>
            <a:pPr marL="342900" indent="-342900">
              <a:buAutoNum type="arabicPeriod"/>
            </a:pPr>
            <a:endParaRPr lang="en-IN" dirty="0"/>
          </a:p>
          <a:p>
            <a:endParaRPr lang="en-IN" dirty="0"/>
          </a:p>
        </p:txBody>
      </p:sp>
    </p:spTree>
    <p:extLst>
      <p:ext uri="{BB962C8B-B14F-4D97-AF65-F5344CB8AC3E}">
        <p14:creationId xmlns:p14="http://schemas.microsoft.com/office/powerpoint/2010/main" val="4134080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44569-C246-7A23-0939-731B232C7357}"/>
              </a:ext>
            </a:extLst>
          </p:cNvPr>
          <p:cNvSpPr>
            <a:spLocks noGrp="1"/>
          </p:cNvSpPr>
          <p:nvPr>
            <p:ph type="title"/>
          </p:nvPr>
        </p:nvSpPr>
        <p:spPr/>
        <p:txBody>
          <a:bodyPr/>
          <a:lstStyle/>
          <a:p>
            <a:r>
              <a:rPr lang="en-IN" dirty="0"/>
              <a:t>Extract requirements</a:t>
            </a:r>
          </a:p>
        </p:txBody>
      </p:sp>
      <p:graphicFrame>
        <p:nvGraphicFramePr>
          <p:cNvPr id="5" name="Content Placeholder 4">
            <a:extLst>
              <a:ext uri="{FF2B5EF4-FFF2-40B4-BE49-F238E27FC236}">
                <a16:creationId xmlns:a16="http://schemas.microsoft.com/office/drawing/2014/main" id="{A40B836F-9D91-EACC-DFB9-757C4542A499}"/>
              </a:ext>
            </a:extLst>
          </p:cNvPr>
          <p:cNvGraphicFramePr>
            <a:graphicFrameLocks noGrp="1"/>
          </p:cNvGraphicFramePr>
          <p:nvPr>
            <p:ph idx="1"/>
            <p:extLst>
              <p:ext uri="{D42A27DB-BD31-4B8C-83A1-F6EECF244321}">
                <p14:modId xmlns:p14="http://schemas.microsoft.com/office/powerpoint/2010/main" val="36000567"/>
              </p:ext>
            </p:extLst>
          </p:nvPr>
        </p:nvGraphicFramePr>
        <p:xfrm>
          <a:off x="1066800" y="2103438"/>
          <a:ext cx="10058400" cy="222504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3111485778"/>
                    </a:ext>
                  </a:extLst>
                </a:gridCol>
                <a:gridCol w="5029200">
                  <a:extLst>
                    <a:ext uri="{9D8B030D-6E8A-4147-A177-3AD203B41FA5}">
                      <a16:colId xmlns:a16="http://schemas.microsoft.com/office/drawing/2014/main" val="3911879974"/>
                    </a:ext>
                  </a:extLst>
                </a:gridCol>
              </a:tblGrid>
              <a:tr h="370840">
                <a:tc>
                  <a:txBody>
                    <a:bodyPr/>
                    <a:lstStyle/>
                    <a:p>
                      <a:r>
                        <a:rPr lang="en-IN" dirty="0"/>
                        <a:t>Requirement ID</a:t>
                      </a:r>
                    </a:p>
                  </a:txBody>
                  <a:tcPr/>
                </a:tc>
                <a:tc>
                  <a:txBody>
                    <a:bodyPr/>
                    <a:lstStyle/>
                    <a:p>
                      <a:r>
                        <a:rPr lang="en-IN" dirty="0"/>
                        <a:t>Description</a:t>
                      </a:r>
                    </a:p>
                  </a:txBody>
                  <a:tcPr/>
                </a:tc>
                <a:extLst>
                  <a:ext uri="{0D108BD9-81ED-4DB2-BD59-A6C34878D82A}">
                    <a16:rowId xmlns:a16="http://schemas.microsoft.com/office/drawing/2014/main" val="2752875421"/>
                  </a:ext>
                </a:extLst>
              </a:tr>
              <a:tr h="370840">
                <a:tc>
                  <a:txBody>
                    <a:bodyPr/>
                    <a:lstStyle/>
                    <a:p>
                      <a:r>
                        <a:rPr lang="en-IN" dirty="0"/>
                        <a:t>R1</a:t>
                      </a:r>
                    </a:p>
                  </a:txBody>
                  <a:tcPr/>
                </a:tc>
                <a:tc>
                  <a:txBody>
                    <a:bodyPr/>
                    <a:lstStyle/>
                    <a:p>
                      <a:r>
                        <a:rPr lang="en-IN" dirty="0"/>
                        <a:t>Register new patients</a:t>
                      </a:r>
                    </a:p>
                  </a:txBody>
                  <a:tcPr/>
                </a:tc>
                <a:extLst>
                  <a:ext uri="{0D108BD9-81ED-4DB2-BD59-A6C34878D82A}">
                    <a16:rowId xmlns:a16="http://schemas.microsoft.com/office/drawing/2014/main" val="1913768649"/>
                  </a:ext>
                </a:extLst>
              </a:tr>
              <a:tr h="370840">
                <a:tc>
                  <a:txBody>
                    <a:bodyPr/>
                    <a:lstStyle/>
                    <a:p>
                      <a:r>
                        <a:rPr lang="en-IN" dirty="0"/>
                        <a:t>R2</a:t>
                      </a:r>
                    </a:p>
                  </a:txBody>
                  <a:tcPr/>
                </a:tc>
                <a:tc>
                  <a:txBody>
                    <a:bodyPr/>
                    <a:lstStyle/>
                    <a:p>
                      <a:r>
                        <a:rPr lang="en-IN" dirty="0"/>
                        <a:t>View patient details</a:t>
                      </a:r>
                    </a:p>
                  </a:txBody>
                  <a:tcPr/>
                </a:tc>
                <a:extLst>
                  <a:ext uri="{0D108BD9-81ED-4DB2-BD59-A6C34878D82A}">
                    <a16:rowId xmlns:a16="http://schemas.microsoft.com/office/drawing/2014/main" val="749815673"/>
                  </a:ext>
                </a:extLst>
              </a:tr>
              <a:tr h="370840">
                <a:tc>
                  <a:txBody>
                    <a:bodyPr/>
                    <a:lstStyle/>
                    <a:p>
                      <a:r>
                        <a:rPr lang="en-IN" dirty="0"/>
                        <a:t>R3</a:t>
                      </a:r>
                    </a:p>
                  </a:txBody>
                  <a:tcPr/>
                </a:tc>
                <a:tc>
                  <a:txBody>
                    <a:bodyPr/>
                    <a:lstStyle/>
                    <a:p>
                      <a:r>
                        <a:rPr lang="en-IN" dirty="0"/>
                        <a:t>Update patient details</a:t>
                      </a:r>
                    </a:p>
                  </a:txBody>
                  <a:tcPr/>
                </a:tc>
                <a:extLst>
                  <a:ext uri="{0D108BD9-81ED-4DB2-BD59-A6C34878D82A}">
                    <a16:rowId xmlns:a16="http://schemas.microsoft.com/office/drawing/2014/main" val="1467245183"/>
                  </a:ext>
                </a:extLst>
              </a:tr>
              <a:tr h="370840">
                <a:tc>
                  <a:txBody>
                    <a:bodyPr/>
                    <a:lstStyle/>
                    <a:p>
                      <a:r>
                        <a:rPr lang="en-IN" dirty="0"/>
                        <a:t>R4</a:t>
                      </a:r>
                    </a:p>
                  </a:txBody>
                  <a:tcPr/>
                </a:tc>
                <a:tc>
                  <a:txBody>
                    <a:bodyPr/>
                    <a:lstStyle/>
                    <a:p>
                      <a:r>
                        <a:rPr lang="en-IN" dirty="0"/>
                        <a:t>Data should be secure</a:t>
                      </a:r>
                    </a:p>
                  </a:txBody>
                  <a:tcPr/>
                </a:tc>
                <a:extLst>
                  <a:ext uri="{0D108BD9-81ED-4DB2-BD59-A6C34878D82A}">
                    <a16:rowId xmlns:a16="http://schemas.microsoft.com/office/drawing/2014/main" val="537560035"/>
                  </a:ext>
                </a:extLst>
              </a:tr>
              <a:tr h="370840">
                <a:tc>
                  <a:txBody>
                    <a:bodyPr/>
                    <a:lstStyle/>
                    <a:p>
                      <a:r>
                        <a:rPr lang="en-IN" dirty="0"/>
                        <a:t>R5</a:t>
                      </a:r>
                    </a:p>
                  </a:txBody>
                  <a:tcPr/>
                </a:tc>
                <a:tc>
                  <a:txBody>
                    <a:bodyPr/>
                    <a:lstStyle/>
                    <a:p>
                      <a:r>
                        <a:rPr lang="en-IN" dirty="0"/>
                        <a:t>System should be easy to use</a:t>
                      </a:r>
                    </a:p>
                  </a:txBody>
                  <a:tcPr/>
                </a:tc>
                <a:extLst>
                  <a:ext uri="{0D108BD9-81ED-4DB2-BD59-A6C34878D82A}">
                    <a16:rowId xmlns:a16="http://schemas.microsoft.com/office/drawing/2014/main" val="1095805782"/>
                  </a:ext>
                </a:extLst>
              </a:tr>
            </a:tbl>
          </a:graphicData>
        </a:graphic>
      </p:graphicFrame>
      <p:sp>
        <p:nvSpPr>
          <p:cNvPr id="6" name="TextBox 5">
            <a:extLst>
              <a:ext uri="{FF2B5EF4-FFF2-40B4-BE49-F238E27FC236}">
                <a16:creationId xmlns:a16="http://schemas.microsoft.com/office/drawing/2014/main" id="{60105DE1-7429-13AB-8B83-A2FEC75C4B4D}"/>
              </a:ext>
            </a:extLst>
          </p:cNvPr>
          <p:cNvSpPr txBox="1"/>
          <p:nvPr/>
        </p:nvSpPr>
        <p:spPr>
          <a:xfrm>
            <a:off x="1066800" y="4522304"/>
            <a:ext cx="10058399" cy="2031325"/>
          </a:xfrm>
          <a:prstGeom prst="rect">
            <a:avLst/>
          </a:prstGeom>
          <a:noFill/>
        </p:spPr>
        <p:txBody>
          <a:bodyPr wrap="square" rtlCol="0">
            <a:spAutoFit/>
          </a:bodyPr>
          <a:lstStyle/>
          <a:p>
            <a:r>
              <a:rPr lang="en-IN" dirty="0"/>
              <a:t>User stories:</a:t>
            </a:r>
          </a:p>
          <a:p>
            <a:pPr marL="285750" indent="-285750">
              <a:buFont typeface="Arial" panose="020B0604020202020204" pitchFamily="34" charset="0"/>
              <a:buChar char="•"/>
            </a:pPr>
            <a:r>
              <a:rPr lang="en-IN" dirty="0"/>
              <a:t>As a receptionist: I register patients  </a:t>
            </a:r>
          </a:p>
          <a:p>
            <a:pPr marL="285750" indent="-285750">
              <a:buFont typeface="Arial" panose="020B0604020202020204" pitchFamily="34" charset="0"/>
              <a:buChar char="•"/>
            </a:pPr>
            <a:r>
              <a:rPr lang="en-IN" dirty="0"/>
              <a:t>As a doctor, I want to review patients</a:t>
            </a:r>
          </a:p>
          <a:p>
            <a:pPr marL="285750" indent="-285750">
              <a:buFont typeface="Arial" panose="020B0604020202020204" pitchFamily="34" charset="0"/>
              <a:buChar char="•"/>
            </a:pPr>
            <a:r>
              <a:rPr lang="en-IN" dirty="0"/>
              <a:t>As an admin, I update records, so data is accurate</a:t>
            </a:r>
          </a:p>
          <a:p>
            <a:pPr marL="285750" indent="-285750">
              <a:buFont typeface="Arial" panose="020B0604020202020204" pitchFamily="34" charset="0"/>
              <a:buChar char="•"/>
            </a:pPr>
            <a:r>
              <a:rPr lang="en-IN" dirty="0"/>
              <a:t>As a nurse, I see patient details, so care is provided properly</a:t>
            </a:r>
          </a:p>
          <a:p>
            <a:pPr marL="285750" indent="-285750">
              <a:buFont typeface="Arial" panose="020B0604020202020204" pitchFamily="34" charset="0"/>
              <a:buChar char="•"/>
            </a:pPr>
            <a:r>
              <a:rPr lang="en-IN" dirty="0"/>
              <a:t>As an admin, I delete old records, so data is maintained.</a:t>
            </a:r>
          </a:p>
          <a:p>
            <a:endParaRPr lang="en-IN" dirty="0"/>
          </a:p>
        </p:txBody>
      </p:sp>
    </p:spTree>
    <p:extLst>
      <p:ext uri="{BB962C8B-B14F-4D97-AF65-F5344CB8AC3E}">
        <p14:creationId xmlns:p14="http://schemas.microsoft.com/office/powerpoint/2010/main" val="2112548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46F4A-B96E-19D3-466D-FF0B9AFA1FAB}"/>
              </a:ext>
            </a:extLst>
          </p:cNvPr>
          <p:cNvSpPr>
            <a:spLocks noGrp="1"/>
          </p:cNvSpPr>
          <p:nvPr>
            <p:ph type="title"/>
          </p:nvPr>
        </p:nvSpPr>
        <p:spPr/>
        <p:txBody>
          <a:bodyPr/>
          <a:lstStyle/>
          <a:p>
            <a:r>
              <a:rPr lang="en-IN" dirty="0"/>
              <a:t>System Design</a:t>
            </a:r>
          </a:p>
        </p:txBody>
      </p:sp>
      <p:sp>
        <p:nvSpPr>
          <p:cNvPr id="3" name="Content Placeholder 2">
            <a:extLst>
              <a:ext uri="{FF2B5EF4-FFF2-40B4-BE49-F238E27FC236}">
                <a16:creationId xmlns:a16="http://schemas.microsoft.com/office/drawing/2014/main" id="{F55C7EB7-3D61-1B14-18BB-A607ADD1C89E}"/>
              </a:ext>
            </a:extLst>
          </p:cNvPr>
          <p:cNvSpPr>
            <a:spLocks noGrp="1"/>
          </p:cNvSpPr>
          <p:nvPr>
            <p:ph idx="1"/>
          </p:nvPr>
        </p:nvSpPr>
        <p:spPr>
          <a:xfrm>
            <a:off x="546652" y="1659835"/>
            <a:ext cx="4691270" cy="4681330"/>
          </a:xfrm>
        </p:spPr>
        <p:txBody>
          <a:bodyPr>
            <a:normAutofit/>
          </a:bodyPr>
          <a:lstStyle/>
          <a:p>
            <a:r>
              <a:rPr lang="en-IN" sz="1600" b="1" u="sng" dirty="0"/>
              <a:t>System architecture:</a:t>
            </a:r>
          </a:p>
          <a:p>
            <a:r>
              <a:rPr lang="en-IN" sz="1600" dirty="0"/>
              <a:t>User</a:t>
            </a:r>
          </a:p>
          <a:p>
            <a:r>
              <a:rPr lang="en-IN" sz="1600" dirty="0"/>
              <a:t>Console Interface</a:t>
            </a:r>
          </a:p>
          <a:p>
            <a:r>
              <a:rPr lang="en-IN" sz="1600" dirty="0"/>
              <a:t>Hospital Management System</a:t>
            </a:r>
          </a:p>
          <a:p>
            <a:r>
              <a:rPr lang="en-IN" sz="1600" dirty="0"/>
              <a:t>Patient records(dictionary/file)</a:t>
            </a:r>
          </a:p>
          <a:p>
            <a:r>
              <a:rPr lang="en-IN" sz="1600" b="1" u="sng" dirty="0"/>
              <a:t>UI </a:t>
            </a:r>
            <a:r>
              <a:rPr lang="en-IN" sz="1600" b="1" u="sng" dirty="0" err="1"/>
              <a:t>Wareframes</a:t>
            </a:r>
            <a:r>
              <a:rPr lang="en-IN" sz="1600" b="1" u="sng" dirty="0"/>
              <a:t>: </a:t>
            </a:r>
          </a:p>
          <a:p>
            <a:pPr>
              <a:buFont typeface="Wingdings" panose="05000000000000000000" pitchFamily="2" charset="2"/>
              <a:buChar char="Ø"/>
            </a:pPr>
            <a:r>
              <a:rPr lang="en-IN" sz="1600" dirty="0"/>
              <a:t>Home screen</a:t>
            </a:r>
          </a:p>
          <a:p>
            <a:pPr>
              <a:buFont typeface="Wingdings" panose="05000000000000000000" pitchFamily="2" charset="2"/>
              <a:buChar char="Ø"/>
            </a:pPr>
            <a:r>
              <a:rPr lang="en-IN" sz="1600" dirty="0"/>
              <a:t>Add patient screen</a:t>
            </a:r>
          </a:p>
          <a:p>
            <a:pPr>
              <a:buFont typeface="Wingdings" panose="05000000000000000000" pitchFamily="2" charset="2"/>
              <a:buChar char="Ø"/>
            </a:pPr>
            <a:r>
              <a:rPr lang="en-IN" sz="1600" dirty="0"/>
              <a:t>View patient screen</a:t>
            </a:r>
          </a:p>
          <a:p>
            <a:pPr>
              <a:buFont typeface="Wingdings" panose="05000000000000000000" pitchFamily="2" charset="2"/>
              <a:buChar char="Ø"/>
            </a:pPr>
            <a:r>
              <a:rPr lang="en-IN" sz="1600" dirty="0"/>
              <a:t>Update patient screen</a:t>
            </a:r>
          </a:p>
          <a:p>
            <a:pPr>
              <a:buFont typeface="Wingdings" panose="05000000000000000000" pitchFamily="2" charset="2"/>
              <a:buChar char="Ø"/>
            </a:pPr>
            <a:r>
              <a:rPr lang="en-IN" sz="1600" dirty="0"/>
              <a:t>Delete patient screen</a:t>
            </a:r>
          </a:p>
          <a:p>
            <a:endParaRPr lang="en-IN" sz="1600" dirty="0"/>
          </a:p>
        </p:txBody>
      </p:sp>
      <p:sp>
        <p:nvSpPr>
          <p:cNvPr id="21" name="Content Placeholder 2">
            <a:extLst>
              <a:ext uri="{FF2B5EF4-FFF2-40B4-BE49-F238E27FC236}">
                <a16:creationId xmlns:a16="http://schemas.microsoft.com/office/drawing/2014/main" id="{0B4EF9CA-3355-B005-95C3-0B640CD27579}"/>
              </a:ext>
            </a:extLst>
          </p:cNvPr>
          <p:cNvSpPr txBox="1">
            <a:spLocks/>
          </p:cNvSpPr>
          <p:nvPr/>
        </p:nvSpPr>
        <p:spPr>
          <a:xfrm>
            <a:off x="5758070" y="1659835"/>
            <a:ext cx="4691270" cy="4681330"/>
          </a:xfrm>
          <a:prstGeom prst="rect">
            <a:avLst/>
          </a:prstGeom>
        </p:spPr>
        <p:txBody>
          <a:bodyPr vert="horz" lIns="91440" tIns="45720" rIns="91440" bIns="45720" rtlCol="0">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en-IN" sz="1600" b="1" u="sng" dirty="0"/>
              <a:t>Database Design:</a:t>
            </a:r>
          </a:p>
          <a:p>
            <a:r>
              <a:rPr lang="en-IN" sz="1600" dirty="0"/>
              <a:t>Entity: Patient</a:t>
            </a:r>
          </a:p>
          <a:p>
            <a:r>
              <a:rPr lang="en-IN" sz="1600" dirty="0"/>
              <a:t>Attributes: Patient ID</a:t>
            </a:r>
          </a:p>
          <a:p>
            <a:pPr lvl="4"/>
            <a:r>
              <a:rPr lang="en-IN" sz="1800" dirty="0"/>
              <a:t>Name</a:t>
            </a:r>
          </a:p>
          <a:p>
            <a:pPr lvl="4"/>
            <a:r>
              <a:rPr lang="en-IN" sz="1800" dirty="0"/>
              <a:t>Age</a:t>
            </a:r>
          </a:p>
          <a:p>
            <a:pPr lvl="4"/>
            <a:r>
              <a:rPr lang="en-IN" sz="1800" dirty="0"/>
              <a:t>Gender</a:t>
            </a:r>
          </a:p>
          <a:p>
            <a:pPr lvl="4"/>
            <a:r>
              <a:rPr lang="en-IN" sz="1800" dirty="0"/>
              <a:t>Disease</a:t>
            </a:r>
          </a:p>
          <a:p>
            <a:pPr lvl="4"/>
            <a:r>
              <a:rPr lang="en-IN" sz="1800" dirty="0"/>
              <a:t>Doctor </a:t>
            </a:r>
          </a:p>
          <a:p>
            <a:endParaRPr lang="en-IN" sz="1600" dirty="0"/>
          </a:p>
        </p:txBody>
      </p:sp>
    </p:spTree>
    <p:extLst>
      <p:ext uri="{BB962C8B-B14F-4D97-AF65-F5344CB8AC3E}">
        <p14:creationId xmlns:p14="http://schemas.microsoft.com/office/powerpoint/2010/main" val="2768351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4917E-763D-9F8E-2756-6B636166D97B}"/>
              </a:ext>
            </a:extLst>
          </p:cNvPr>
          <p:cNvSpPr>
            <a:spLocks noGrp="1"/>
          </p:cNvSpPr>
          <p:nvPr>
            <p:ph type="title"/>
          </p:nvPr>
        </p:nvSpPr>
        <p:spPr/>
        <p:txBody>
          <a:bodyPr/>
          <a:lstStyle/>
          <a:p>
            <a:r>
              <a:rPr lang="en-IN" dirty="0"/>
              <a:t>Development phase</a:t>
            </a:r>
          </a:p>
        </p:txBody>
      </p:sp>
      <p:graphicFrame>
        <p:nvGraphicFramePr>
          <p:cNvPr id="4" name="Content Placeholder 3">
            <a:extLst>
              <a:ext uri="{FF2B5EF4-FFF2-40B4-BE49-F238E27FC236}">
                <a16:creationId xmlns:a16="http://schemas.microsoft.com/office/drawing/2014/main" id="{EF00A741-D87D-7E3F-6E7D-E12CFBF9D87E}"/>
              </a:ext>
            </a:extLst>
          </p:cNvPr>
          <p:cNvGraphicFramePr>
            <a:graphicFrameLocks noGrp="1"/>
          </p:cNvGraphicFramePr>
          <p:nvPr>
            <p:ph idx="1"/>
            <p:extLst>
              <p:ext uri="{D42A27DB-BD31-4B8C-83A1-F6EECF244321}">
                <p14:modId xmlns:p14="http://schemas.microsoft.com/office/powerpoint/2010/main" val="1578829052"/>
              </p:ext>
            </p:extLst>
          </p:nvPr>
        </p:nvGraphicFramePr>
        <p:xfrm>
          <a:off x="1066800" y="2103438"/>
          <a:ext cx="10058400" cy="21234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3107014746"/>
                    </a:ext>
                  </a:extLst>
                </a:gridCol>
                <a:gridCol w="2514600">
                  <a:extLst>
                    <a:ext uri="{9D8B030D-6E8A-4147-A177-3AD203B41FA5}">
                      <a16:colId xmlns:a16="http://schemas.microsoft.com/office/drawing/2014/main" val="2390826223"/>
                    </a:ext>
                  </a:extLst>
                </a:gridCol>
                <a:gridCol w="2514600">
                  <a:extLst>
                    <a:ext uri="{9D8B030D-6E8A-4147-A177-3AD203B41FA5}">
                      <a16:colId xmlns:a16="http://schemas.microsoft.com/office/drawing/2014/main" val="2530714954"/>
                    </a:ext>
                  </a:extLst>
                </a:gridCol>
                <a:gridCol w="2514600">
                  <a:extLst>
                    <a:ext uri="{9D8B030D-6E8A-4147-A177-3AD203B41FA5}">
                      <a16:colId xmlns:a16="http://schemas.microsoft.com/office/drawing/2014/main" val="2502706754"/>
                    </a:ext>
                  </a:extLst>
                </a:gridCol>
              </a:tblGrid>
              <a:tr h="370840">
                <a:tc>
                  <a:txBody>
                    <a:bodyPr/>
                    <a:lstStyle/>
                    <a:p>
                      <a:r>
                        <a:rPr lang="en-IN" dirty="0"/>
                        <a:t>Task ID</a:t>
                      </a:r>
                    </a:p>
                  </a:txBody>
                  <a:tcPr/>
                </a:tc>
                <a:tc>
                  <a:txBody>
                    <a:bodyPr/>
                    <a:lstStyle/>
                    <a:p>
                      <a:r>
                        <a:rPr lang="en-IN" dirty="0"/>
                        <a:t>Feature</a:t>
                      </a:r>
                    </a:p>
                  </a:txBody>
                  <a:tcPr/>
                </a:tc>
                <a:tc>
                  <a:txBody>
                    <a:bodyPr/>
                    <a:lstStyle/>
                    <a:p>
                      <a:r>
                        <a:rPr lang="en-IN" dirty="0"/>
                        <a:t>Description</a:t>
                      </a:r>
                    </a:p>
                  </a:txBody>
                  <a:tcPr/>
                </a:tc>
                <a:tc>
                  <a:txBody>
                    <a:bodyPr/>
                    <a:lstStyle/>
                    <a:p>
                      <a:r>
                        <a:rPr lang="en-IN" dirty="0"/>
                        <a:t>Status</a:t>
                      </a:r>
                    </a:p>
                  </a:txBody>
                  <a:tcPr/>
                </a:tc>
                <a:extLst>
                  <a:ext uri="{0D108BD9-81ED-4DB2-BD59-A6C34878D82A}">
                    <a16:rowId xmlns:a16="http://schemas.microsoft.com/office/drawing/2014/main" val="3862688023"/>
                  </a:ext>
                </a:extLst>
              </a:tr>
              <a:tr h="370840">
                <a:tc>
                  <a:txBody>
                    <a:bodyPr/>
                    <a:lstStyle/>
                    <a:p>
                      <a:r>
                        <a:rPr lang="en-IN" dirty="0"/>
                        <a:t>T1</a:t>
                      </a:r>
                    </a:p>
                  </a:txBody>
                  <a:tcPr/>
                </a:tc>
                <a:tc>
                  <a:txBody>
                    <a:bodyPr/>
                    <a:lstStyle/>
                    <a:p>
                      <a:r>
                        <a:rPr lang="en-IN" dirty="0"/>
                        <a:t>Add patient</a:t>
                      </a:r>
                    </a:p>
                  </a:txBody>
                  <a:tcPr/>
                </a:tc>
                <a:tc>
                  <a:txBody>
                    <a:bodyPr/>
                    <a:lstStyle/>
                    <a:p>
                      <a:r>
                        <a:rPr lang="en-IN" dirty="0"/>
                        <a:t>Register new patient</a:t>
                      </a:r>
                    </a:p>
                  </a:txBody>
                  <a:tcPr/>
                </a:tc>
                <a:tc>
                  <a:txBody>
                    <a:bodyPr/>
                    <a:lstStyle/>
                    <a:p>
                      <a:r>
                        <a:rPr lang="en-IN" dirty="0"/>
                        <a:t>Done</a:t>
                      </a:r>
                    </a:p>
                  </a:txBody>
                  <a:tcPr/>
                </a:tc>
                <a:extLst>
                  <a:ext uri="{0D108BD9-81ED-4DB2-BD59-A6C34878D82A}">
                    <a16:rowId xmlns:a16="http://schemas.microsoft.com/office/drawing/2014/main" val="1895758885"/>
                  </a:ext>
                </a:extLst>
              </a:tr>
              <a:tr h="370840">
                <a:tc>
                  <a:txBody>
                    <a:bodyPr/>
                    <a:lstStyle/>
                    <a:p>
                      <a:r>
                        <a:rPr lang="en-IN" dirty="0"/>
                        <a:t>T2</a:t>
                      </a:r>
                    </a:p>
                  </a:txBody>
                  <a:tcPr/>
                </a:tc>
                <a:tc>
                  <a:txBody>
                    <a:bodyPr/>
                    <a:lstStyle/>
                    <a:p>
                      <a:r>
                        <a:rPr lang="en-IN" dirty="0"/>
                        <a:t>View patient</a:t>
                      </a:r>
                    </a:p>
                  </a:txBody>
                  <a:tcPr/>
                </a:tc>
                <a:tc>
                  <a:txBody>
                    <a:bodyPr/>
                    <a:lstStyle/>
                    <a:p>
                      <a:r>
                        <a:rPr lang="en-IN" dirty="0"/>
                        <a:t>Display Patient details</a:t>
                      </a:r>
                    </a:p>
                  </a:txBody>
                  <a:tcPr/>
                </a:tc>
                <a:tc>
                  <a:txBody>
                    <a:bodyPr/>
                    <a:lstStyle/>
                    <a:p>
                      <a:r>
                        <a:rPr lang="en-IN" dirty="0"/>
                        <a:t>Done</a:t>
                      </a:r>
                    </a:p>
                  </a:txBody>
                  <a:tcPr/>
                </a:tc>
                <a:extLst>
                  <a:ext uri="{0D108BD9-81ED-4DB2-BD59-A6C34878D82A}">
                    <a16:rowId xmlns:a16="http://schemas.microsoft.com/office/drawing/2014/main" val="3008544361"/>
                  </a:ext>
                </a:extLst>
              </a:tr>
              <a:tr h="370840">
                <a:tc>
                  <a:txBody>
                    <a:bodyPr/>
                    <a:lstStyle/>
                    <a:p>
                      <a:r>
                        <a:rPr lang="en-IN" dirty="0"/>
                        <a:t>T3</a:t>
                      </a:r>
                    </a:p>
                  </a:txBody>
                  <a:tcPr/>
                </a:tc>
                <a:tc>
                  <a:txBody>
                    <a:bodyPr/>
                    <a:lstStyle/>
                    <a:p>
                      <a:r>
                        <a:rPr lang="en-IN" dirty="0"/>
                        <a:t>Update patient</a:t>
                      </a:r>
                    </a:p>
                  </a:txBody>
                  <a:tcPr/>
                </a:tc>
                <a:tc>
                  <a:txBody>
                    <a:bodyPr/>
                    <a:lstStyle/>
                    <a:p>
                      <a:r>
                        <a:rPr lang="en-IN" dirty="0"/>
                        <a:t>Modify patient data</a:t>
                      </a:r>
                    </a:p>
                  </a:txBody>
                  <a:tcPr/>
                </a:tc>
                <a:tc>
                  <a:txBody>
                    <a:bodyPr/>
                    <a:lstStyle/>
                    <a:p>
                      <a:r>
                        <a:rPr lang="en-IN" dirty="0"/>
                        <a:t>Done</a:t>
                      </a:r>
                    </a:p>
                  </a:txBody>
                  <a:tcPr/>
                </a:tc>
                <a:extLst>
                  <a:ext uri="{0D108BD9-81ED-4DB2-BD59-A6C34878D82A}">
                    <a16:rowId xmlns:a16="http://schemas.microsoft.com/office/drawing/2014/main" val="1581998709"/>
                  </a:ext>
                </a:extLst>
              </a:tr>
              <a:tr h="370840">
                <a:tc>
                  <a:txBody>
                    <a:bodyPr/>
                    <a:lstStyle/>
                    <a:p>
                      <a:r>
                        <a:rPr lang="en-IN" dirty="0"/>
                        <a:t>T4</a:t>
                      </a:r>
                    </a:p>
                  </a:txBody>
                  <a:tcPr/>
                </a:tc>
                <a:tc>
                  <a:txBody>
                    <a:bodyPr/>
                    <a:lstStyle/>
                    <a:p>
                      <a:r>
                        <a:rPr lang="en-IN" dirty="0"/>
                        <a:t>Delete patient</a:t>
                      </a:r>
                    </a:p>
                  </a:txBody>
                  <a:tcPr/>
                </a:tc>
                <a:tc>
                  <a:txBody>
                    <a:bodyPr/>
                    <a:lstStyle/>
                    <a:p>
                      <a:r>
                        <a:rPr lang="en-IN" dirty="0"/>
                        <a:t>Remove patient record</a:t>
                      </a:r>
                    </a:p>
                  </a:txBody>
                  <a:tcPr/>
                </a:tc>
                <a:tc>
                  <a:txBody>
                    <a:bodyPr/>
                    <a:lstStyle/>
                    <a:p>
                      <a:r>
                        <a:rPr lang="en-IN" dirty="0"/>
                        <a:t>Done</a:t>
                      </a:r>
                    </a:p>
                  </a:txBody>
                  <a:tcPr/>
                </a:tc>
                <a:extLst>
                  <a:ext uri="{0D108BD9-81ED-4DB2-BD59-A6C34878D82A}">
                    <a16:rowId xmlns:a16="http://schemas.microsoft.com/office/drawing/2014/main" val="4099750192"/>
                  </a:ext>
                </a:extLst>
              </a:tr>
            </a:tbl>
          </a:graphicData>
        </a:graphic>
      </p:graphicFrame>
      <p:sp>
        <p:nvSpPr>
          <p:cNvPr id="5" name="TextBox 4">
            <a:extLst>
              <a:ext uri="{FF2B5EF4-FFF2-40B4-BE49-F238E27FC236}">
                <a16:creationId xmlns:a16="http://schemas.microsoft.com/office/drawing/2014/main" id="{6772B801-1BCA-40C4-FFD4-F370C132A6EC}"/>
              </a:ext>
            </a:extLst>
          </p:cNvPr>
          <p:cNvSpPr txBox="1"/>
          <p:nvPr/>
        </p:nvSpPr>
        <p:spPr>
          <a:xfrm>
            <a:off x="1066799" y="4581939"/>
            <a:ext cx="10058399" cy="1477328"/>
          </a:xfrm>
          <a:prstGeom prst="rect">
            <a:avLst/>
          </a:prstGeom>
          <a:noFill/>
        </p:spPr>
        <p:txBody>
          <a:bodyPr wrap="square" rtlCol="0">
            <a:spAutoFit/>
          </a:bodyPr>
          <a:lstStyle/>
          <a:p>
            <a:r>
              <a:rPr lang="en-IN" dirty="0"/>
              <a:t>Code walkthrough notes:</a:t>
            </a:r>
          </a:p>
          <a:p>
            <a:pPr marL="285750" indent="-285750">
              <a:buFont typeface="Arial" panose="020B0604020202020204" pitchFamily="34" charset="0"/>
              <a:buChar char="•"/>
            </a:pPr>
            <a:r>
              <a:rPr lang="en-IN" dirty="0"/>
              <a:t>Implemented CRUD operations</a:t>
            </a:r>
          </a:p>
          <a:p>
            <a:pPr marL="285750" indent="-285750">
              <a:buFont typeface="Arial" panose="020B0604020202020204" pitchFamily="34" charset="0"/>
              <a:buChar char="•"/>
            </a:pPr>
            <a:r>
              <a:rPr lang="en-IN" dirty="0"/>
              <a:t>Used dictionary for data storage</a:t>
            </a:r>
          </a:p>
          <a:p>
            <a:pPr marL="285750" indent="-285750">
              <a:buFont typeface="Arial" panose="020B0604020202020204" pitchFamily="34" charset="0"/>
              <a:buChar char="•"/>
            </a:pPr>
            <a:r>
              <a:rPr lang="en-IN" dirty="0"/>
              <a:t>Menu-driven program</a:t>
            </a:r>
          </a:p>
          <a:p>
            <a:pPr marL="285750" indent="-285750">
              <a:buFont typeface="Arial" panose="020B0604020202020204" pitchFamily="34" charset="0"/>
              <a:buChar char="•"/>
            </a:pPr>
            <a:r>
              <a:rPr lang="en-IN" dirty="0"/>
              <a:t>No major blockers faced</a:t>
            </a:r>
          </a:p>
        </p:txBody>
      </p:sp>
    </p:spTree>
    <p:extLst>
      <p:ext uri="{BB962C8B-B14F-4D97-AF65-F5344CB8AC3E}">
        <p14:creationId xmlns:p14="http://schemas.microsoft.com/office/powerpoint/2010/main" val="2046430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CB90-1AE5-1CC8-4F6D-EAFD64F9A22B}"/>
              </a:ext>
            </a:extLst>
          </p:cNvPr>
          <p:cNvSpPr>
            <a:spLocks noGrp="1"/>
          </p:cNvSpPr>
          <p:nvPr>
            <p:ph type="title"/>
          </p:nvPr>
        </p:nvSpPr>
        <p:spPr/>
        <p:txBody>
          <a:bodyPr/>
          <a:lstStyle/>
          <a:p>
            <a:r>
              <a:rPr lang="en-IN" dirty="0"/>
              <a:t>Testing Phase</a:t>
            </a:r>
          </a:p>
        </p:txBody>
      </p:sp>
      <p:graphicFrame>
        <p:nvGraphicFramePr>
          <p:cNvPr id="4" name="Content Placeholder 3">
            <a:extLst>
              <a:ext uri="{FF2B5EF4-FFF2-40B4-BE49-F238E27FC236}">
                <a16:creationId xmlns:a16="http://schemas.microsoft.com/office/drawing/2014/main" id="{6DAB778D-B25D-8C77-7601-8362D39E7513}"/>
              </a:ext>
            </a:extLst>
          </p:cNvPr>
          <p:cNvGraphicFramePr>
            <a:graphicFrameLocks noGrp="1"/>
          </p:cNvGraphicFramePr>
          <p:nvPr>
            <p:ph idx="1"/>
            <p:extLst>
              <p:ext uri="{D42A27DB-BD31-4B8C-83A1-F6EECF244321}">
                <p14:modId xmlns:p14="http://schemas.microsoft.com/office/powerpoint/2010/main" val="3798388211"/>
              </p:ext>
            </p:extLst>
          </p:nvPr>
        </p:nvGraphicFramePr>
        <p:xfrm>
          <a:off x="1066800" y="1854959"/>
          <a:ext cx="10058400" cy="18542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3201520714"/>
                    </a:ext>
                  </a:extLst>
                </a:gridCol>
                <a:gridCol w="2514600">
                  <a:extLst>
                    <a:ext uri="{9D8B030D-6E8A-4147-A177-3AD203B41FA5}">
                      <a16:colId xmlns:a16="http://schemas.microsoft.com/office/drawing/2014/main" val="1341331854"/>
                    </a:ext>
                  </a:extLst>
                </a:gridCol>
                <a:gridCol w="2514600">
                  <a:extLst>
                    <a:ext uri="{9D8B030D-6E8A-4147-A177-3AD203B41FA5}">
                      <a16:colId xmlns:a16="http://schemas.microsoft.com/office/drawing/2014/main" val="2063288487"/>
                    </a:ext>
                  </a:extLst>
                </a:gridCol>
                <a:gridCol w="2514600">
                  <a:extLst>
                    <a:ext uri="{9D8B030D-6E8A-4147-A177-3AD203B41FA5}">
                      <a16:colId xmlns:a16="http://schemas.microsoft.com/office/drawing/2014/main" val="422796098"/>
                    </a:ext>
                  </a:extLst>
                </a:gridCol>
              </a:tblGrid>
              <a:tr h="370840">
                <a:tc>
                  <a:txBody>
                    <a:bodyPr/>
                    <a:lstStyle/>
                    <a:p>
                      <a:r>
                        <a:rPr lang="en-IN" dirty="0"/>
                        <a:t>TC ID</a:t>
                      </a:r>
                    </a:p>
                  </a:txBody>
                  <a:tcPr/>
                </a:tc>
                <a:tc>
                  <a:txBody>
                    <a:bodyPr/>
                    <a:lstStyle/>
                    <a:p>
                      <a:r>
                        <a:rPr lang="en-IN" dirty="0"/>
                        <a:t>Description</a:t>
                      </a:r>
                    </a:p>
                  </a:txBody>
                  <a:tcPr/>
                </a:tc>
                <a:tc>
                  <a:txBody>
                    <a:bodyPr/>
                    <a:lstStyle/>
                    <a:p>
                      <a:r>
                        <a:rPr lang="en-IN" dirty="0"/>
                        <a:t>Expected result</a:t>
                      </a:r>
                    </a:p>
                  </a:txBody>
                  <a:tcPr/>
                </a:tc>
                <a:tc>
                  <a:txBody>
                    <a:bodyPr/>
                    <a:lstStyle/>
                    <a:p>
                      <a:r>
                        <a:rPr lang="en-IN" dirty="0"/>
                        <a:t>Status</a:t>
                      </a:r>
                    </a:p>
                  </a:txBody>
                  <a:tcPr/>
                </a:tc>
                <a:extLst>
                  <a:ext uri="{0D108BD9-81ED-4DB2-BD59-A6C34878D82A}">
                    <a16:rowId xmlns:a16="http://schemas.microsoft.com/office/drawing/2014/main" val="1777443272"/>
                  </a:ext>
                </a:extLst>
              </a:tr>
              <a:tr h="370840">
                <a:tc>
                  <a:txBody>
                    <a:bodyPr/>
                    <a:lstStyle/>
                    <a:p>
                      <a:r>
                        <a:rPr lang="en-IN" dirty="0"/>
                        <a:t>TC1</a:t>
                      </a:r>
                    </a:p>
                  </a:txBody>
                  <a:tcPr/>
                </a:tc>
                <a:tc>
                  <a:txBody>
                    <a:bodyPr/>
                    <a:lstStyle/>
                    <a:p>
                      <a:r>
                        <a:rPr lang="en-IN" dirty="0"/>
                        <a:t>Add patient</a:t>
                      </a:r>
                    </a:p>
                  </a:txBody>
                  <a:tcPr/>
                </a:tc>
                <a:tc>
                  <a:txBody>
                    <a:bodyPr/>
                    <a:lstStyle/>
                    <a:p>
                      <a:r>
                        <a:rPr lang="en-IN" dirty="0"/>
                        <a:t>Patient added</a:t>
                      </a:r>
                    </a:p>
                  </a:txBody>
                  <a:tcPr/>
                </a:tc>
                <a:tc>
                  <a:txBody>
                    <a:bodyPr/>
                    <a:lstStyle/>
                    <a:p>
                      <a:r>
                        <a:rPr lang="en-IN" dirty="0"/>
                        <a:t>Done</a:t>
                      </a:r>
                    </a:p>
                  </a:txBody>
                  <a:tcPr/>
                </a:tc>
                <a:extLst>
                  <a:ext uri="{0D108BD9-81ED-4DB2-BD59-A6C34878D82A}">
                    <a16:rowId xmlns:a16="http://schemas.microsoft.com/office/drawing/2014/main" val="308280992"/>
                  </a:ext>
                </a:extLst>
              </a:tr>
              <a:tr h="370840">
                <a:tc>
                  <a:txBody>
                    <a:bodyPr/>
                    <a:lstStyle/>
                    <a:p>
                      <a:r>
                        <a:rPr lang="en-IN" dirty="0"/>
                        <a:t>TC2</a:t>
                      </a:r>
                    </a:p>
                  </a:txBody>
                  <a:tcPr/>
                </a:tc>
                <a:tc>
                  <a:txBody>
                    <a:bodyPr/>
                    <a:lstStyle/>
                    <a:p>
                      <a:r>
                        <a:rPr lang="en-IN" dirty="0"/>
                        <a:t>View patient</a:t>
                      </a:r>
                    </a:p>
                  </a:txBody>
                  <a:tcPr/>
                </a:tc>
                <a:tc>
                  <a:txBody>
                    <a:bodyPr/>
                    <a:lstStyle/>
                    <a:p>
                      <a:r>
                        <a:rPr lang="en-IN" dirty="0"/>
                        <a:t>Details shown</a:t>
                      </a:r>
                    </a:p>
                  </a:txBody>
                  <a:tcPr/>
                </a:tc>
                <a:tc>
                  <a:txBody>
                    <a:bodyPr/>
                    <a:lstStyle/>
                    <a:p>
                      <a:r>
                        <a:rPr lang="en-IN" dirty="0"/>
                        <a:t>Done</a:t>
                      </a:r>
                    </a:p>
                  </a:txBody>
                  <a:tcPr/>
                </a:tc>
                <a:extLst>
                  <a:ext uri="{0D108BD9-81ED-4DB2-BD59-A6C34878D82A}">
                    <a16:rowId xmlns:a16="http://schemas.microsoft.com/office/drawing/2014/main" val="3575682428"/>
                  </a:ext>
                </a:extLst>
              </a:tr>
              <a:tr h="370840">
                <a:tc>
                  <a:txBody>
                    <a:bodyPr/>
                    <a:lstStyle/>
                    <a:p>
                      <a:r>
                        <a:rPr lang="en-IN" dirty="0"/>
                        <a:t>TC3</a:t>
                      </a:r>
                    </a:p>
                  </a:txBody>
                  <a:tcPr/>
                </a:tc>
                <a:tc>
                  <a:txBody>
                    <a:bodyPr/>
                    <a:lstStyle/>
                    <a:p>
                      <a:r>
                        <a:rPr lang="en-IN" dirty="0"/>
                        <a:t>Update patient</a:t>
                      </a:r>
                    </a:p>
                  </a:txBody>
                  <a:tcPr/>
                </a:tc>
                <a:tc>
                  <a:txBody>
                    <a:bodyPr/>
                    <a:lstStyle/>
                    <a:p>
                      <a:r>
                        <a:rPr lang="en-IN" dirty="0"/>
                        <a:t>Data updated</a:t>
                      </a:r>
                    </a:p>
                  </a:txBody>
                  <a:tcPr/>
                </a:tc>
                <a:tc>
                  <a:txBody>
                    <a:bodyPr/>
                    <a:lstStyle/>
                    <a:p>
                      <a:r>
                        <a:rPr lang="en-IN" dirty="0"/>
                        <a:t>Done</a:t>
                      </a:r>
                    </a:p>
                  </a:txBody>
                  <a:tcPr/>
                </a:tc>
                <a:extLst>
                  <a:ext uri="{0D108BD9-81ED-4DB2-BD59-A6C34878D82A}">
                    <a16:rowId xmlns:a16="http://schemas.microsoft.com/office/drawing/2014/main" val="1286831993"/>
                  </a:ext>
                </a:extLst>
              </a:tr>
              <a:tr h="370840">
                <a:tc>
                  <a:txBody>
                    <a:bodyPr/>
                    <a:lstStyle/>
                    <a:p>
                      <a:r>
                        <a:rPr lang="en-IN" dirty="0"/>
                        <a:t>TC4</a:t>
                      </a:r>
                    </a:p>
                  </a:txBody>
                  <a:tcPr/>
                </a:tc>
                <a:tc>
                  <a:txBody>
                    <a:bodyPr/>
                    <a:lstStyle/>
                    <a:p>
                      <a:r>
                        <a:rPr lang="en-IN" dirty="0"/>
                        <a:t>Delete patient</a:t>
                      </a:r>
                    </a:p>
                  </a:txBody>
                  <a:tcPr/>
                </a:tc>
                <a:tc>
                  <a:txBody>
                    <a:bodyPr/>
                    <a:lstStyle/>
                    <a:p>
                      <a:r>
                        <a:rPr lang="en-IN" dirty="0"/>
                        <a:t>Record deleted</a:t>
                      </a:r>
                    </a:p>
                  </a:txBody>
                  <a:tcPr/>
                </a:tc>
                <a:tc>
                  <a:txBody>
                    <a:bodyPr/>
                    <a:lstStyle/>
                    <a:p>
                      <a:r>
                        <a:rPr lang="en-IN" dirty="0"/>
                        <a:t>Done</a:t>
                      </a:r>
                    </a:p>
                  </a:txBody>
                  <a:tcPr/>
                </a:tc>
                <a:extLst>
                  <a:ext uri="{0D108BD9-81ED-4DB2-BD59-A6C34878D82A}">
                    <a16:rowId xmlns:a16="http://schemas.microsoft.com/office/drawing/2014/main" val="3551348210"/>
                  </a:ext>
                </a:extLst>
              </a:tr>
            </a:tbl>
          </a:graphicData>
        </a:graphic>
      </p:graphicFrame>
      <p:graphicFrame>
        <p:nvGraphicFramePr>
          <p:cNvPr id="5" name="Table 4">
            <a:extLst>
              <a:ext uri="{FF2B5EF4-FFF2-40B4-BE49-F238E27FC236}">
                <a16:creationId xmlns:a16="http://schemas.microsoft.com/office/drawing/2014/main" id="{23D6EAD2-386A-4EDA-A7CE-611AD475F67A}"/>
              </a:ext>
            </a:extLst>
          </p:cNvPr>
          <p:cNvGraphicFramePr>
            <a:graphicFrameLocks noGrp="1"/>
          </p:cNvGraphicFramePr>
          <p:nvPr>
            <p:extLst>
              <p:ext uri="{D42A27DB-BD31-4B8C-83A1-F6EECF244321}">
                <p14:modId xmlns:p14="http://schemas.microsoft.com/office/powerpoint/2010/main" val="447220034"/>
              </p:ext>
            </p:extLst>
          </p:nvPr>
        </p:nvGraphicFramePr>
        <p:xfrm>
          <a:off x="1066800" y="3979701"/>
          <a:ext cx="10058400" cy="7416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1670685736"/>
                    </a:ext>
                  </a:extLst>
                </a:gridCol>
                <a:gridCol w="2514600">
                  <a:extLst>
                    <a:ext uri="{9D8B030D-6E8A-4147-A177-3AD203B41FA5}">
                      <a16:colId xmlns:a16="http://schemas.microsoft.com/office/drawing/2014/main" val="3162043081"/>
                    </a:ext>
                  </a:extLst>
                </a:gridCol>
                <a:gridCol w="2514600">
                  <a:extLst>
                    <a:ext uri="{9D8B030D-6E8A-4147-A177-3AD203B41FA5}">
                      <a16:colId xmlns:a16="http://schemas.microsoft.com/office/drawing/2014/main" val="3963151485"/>
                    </a:ext>
                  </a:extLst>
                </a:gridCol>
                <a:gridCol w="2514600">
                  <a:extLst>
                    <a:ext uri="{9D8B030D-6E8A-4147-A177-3AD203B41FA5}">
                      <a16:colId xmlns:a16="http://schemas.microsoft.com/office/drawing/2014/main" val="1124097924"/>
                    </a:ext>
                  </a:extLst>
                </a:gridCol>
              </a:tblGrid>
              <a:tr h="370840">
                <a:tc>
                  <a:txBody>
                    <a:bodyPr/>
                    <a:lstStyle/>
                    <a:p>
                      <a:r>
                        <a:rPr lang="en-IN" dirty="0"/>
                        <a:t>Bug ID</a:t>
                      </a:r>
                    </a:p>
                  </a:txBody>
                  <a:tcPr/>
                </a:tc>
                <a:tc>
                  <a:txBody>
                    <a:bodyPr/>
                    <a:lstStyle/>
                    <a:p>
                      <a:r>
                        <a:rPr lang="en-IN" dirty="0"/>
                        <a:t>Description</a:t>
                      </a:r>
                    </a:p>
                  </a:txBody>
                  <a:tcPr/>
                </a:tc>
                <a:tc>
                  <a:txBody>
                    <a:bodyPr/>
                    <a:lstStyle/>
                    <a:p>
                      <a:r>
                        <a:rPr lang="en-IN" dirty="0"/>
                        <a:t>Severity</a:t>
                      </a:r>
                    </a:p>
                  </a:txBody>
                  <a:tcPr/>
                </a:tc>
                <a:tc>
                  <a:txBody>
                    <a:bodyPr/>
                    <a:lstStyle/>
                    <a:p>
                      <a:r>
                        <a:rPr lang="en-IN" dirty="0"/>
                        <a:t>Status</a:t>
                      </a:r>
                    </a:p>
                  </a:txBody>
                  <a:tcPr/>
                </a:tc>
                <a:extLst>
                  <a:ext uri="{0D108BD9-81ED-4DB2-BD59-A6C34878D82A}">
                    <a16:rowId xmlns:a16="http://schemas.microsoft.com/office/drawing/2014/main" val="3325272086"/>
                  </a:ext>
                </a:extLst>
              </a:tr>
              <a:tr h="370840">
                <a:tc>
                  <a:txBody>
                    <a:bodyPr/>
                    <a:lstStyle/>
                    <a:p>
                      <a:r>
                        <a:rPr lang="en-IN" dirty="0"/>
                        <a:t>B1</a:t>
                      </a:r>
                    </a:p>
                  </a:txBody>
                  <a:tcPr/>
                </a:tc>
                <a:tc>
                  <a:txBody>
                    <a:bodyPr/>
                    <a:lstStyle/>
                    <a:p>
                      <a:r>
                        <a:rPr lang="en-IN" dirty="0"/>
                        <a:t>Invalid ID input</a:t>
                      </a:r>
                    </a:p>
                  </a:txBody>
                  <a:tcPr/>
                </a:tc>
                <a:tc>
                  <a:txBody>
                    <a:bodyPr/>
                    <a:lstStyle/>
                    <a:p>
                      <a:r>
                        <a:rPr lang="en-IN" dirty="0"/>
                        <a:t>Low</a:t>
                      </a:r>
                    </a:p>
                  </a:txBody>
                  <a:tcPr/>
                </a:tc>
                <a:tc>
                  <a:txBody>
                    <a:bodyPr/>
                    <a:lstStyle/>
                    <a:p>
                      <a:r>
                        <a:rPr lang="en-IN" dirty="0"/>
                        <a:t>Fixed</a:t>
                      </a:r>
                    </a:p>
                  </a:txBody>
                  <a:tcPr/>
                </a:tc>
                <a:extLst>
                  <a:ext uri="{0D108BD9-81ED-4DB2-BD59-A6C34878D82A}">
                    <a16:rowId xmlns:a16="http://schemas.microsoft.com/office/drawing/2014/main" val="3681526198"/>
                  </a:ext>
                </a:extLst>
              </a:tr>
            </a:tbl>
          </a:graphicData>
        </a:graphic>
      </p:graphicFrame>
      <p:sp>
        <p:nvSpPr>
          <p:cNvPr id="6" name="TextBox 5">
            <a:extLst>
              <a:ext uri="{FF2B5EF4-FFF2-40B4-BE49-F238E27FC236}">
                <a16:creationId xmlns:a16="http://schemas.microsoft.com/office/drawing/2014/main" id="{59942907-A4CB-A211-1A37-3C4B5A269ED0}"/>
              </a:ext>
            </a:extLst>
          </p:cNvPr>
          <p:cNvSpPr txBox="1"/>
          <p:nvPr/>
        </p:nvSpPr>
        <p:spPr>
          <a:xfrm>
            <a:off x="1066800" y="4921524"/>
            <a:ext cx="10058400" cy="1477328"/>
          </a:xfrm>
          <a:prstGeom prst="rect">
            <a:avLst/>
          </a:prstGeom>
          <a:noFill/>
        </p:spPr>
        <p:txBody>
          <a:bodyPr wrap="square" rtlCol="0">
            <a:spAutoFit/>
          </a:bodyPr>
          <a:lstStyle/>
          <a:p>
            <a:r>
              <a:rPr lang="en-IN" dirty="0"/>
              <a:t>Test- summary</a:t>
            </a:r>
          </a:p>
          <a:p>
            <a:pPr marL="285750" indent="-285750">
              <a:buFont typeface="Arial" panose="020B0604020202020204" pitchFamily="34" charset="0"/>
              <a:buChar char="•"/>
            </a:pPr>
            <a:r>
              <a:rPr lang="en-IN" dirty="0"/>
              <a:t>Total test cases: 4</a:t>
            </a:r>
          </a:p>
          <a:p>
            <a:pPr marL="285750" indent="-285750">
              <a:buFont typeface="Arial" panose="020B0604020202020204" pitchFamily="34" charset="0"/>
              <a:buChar char="•"/>
            </a:pPr>
            <a:r>
              <a:rPr lang="en-IN" dirty="0"/>
              <a:t>Passed: 4</a:t>
            </a:r>
          </a:p>
          <a:p>
            <a:pPr marL="285750" indent="-285750">
              <a:buFont typeface="Arial" panose="020B0604020202020204" pitchFamily="34" charset="0"/>
              <a:buChar char="•"/>
            </a:pPr>
            <a:r>
              <a:rPr lang="en-IN" dirty="0"/>
              <a:t>Failed: 0</a:t>
            </a:r>
          </a:p>
          <a:p>
            <a:pPr marL="285750" indent="-285750">
              <a:buFont typeface="Arial" panose="020B0604020202020204" pitchFamily="34" charset="0"/>
              <a:buChar char="•"/>
            </a:pPr>
            <a:r>
              <a:rPr lang="en-IN" dirty="0"/>
              <a:t>Major issues: None</a:t>
            </a:r>
          </a:p>
        </p:txBody>
      </p:sp>
    </p:spTree>
    <p:extLst>
      <p:ext uri="{BB962C8B-B14F-4D97-AF65-F5344CB8AC3E}">
        <p14:creationId xmlns:p14="http://schemas.microsoft.com/office/powerpoint/2010/main" val="1820116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33B67-C916-D3E9-1B1C-815D5C90FB9F}"/>
              </a:ext>
            </a:extLst>
          </p:cNvPr>
          <p:cNvSpPr>
            <a:spLocks noGrp="1"/>
          </p:cNvSpPr>
          <p:nvPr>
            <p:ph type="title"/>
          </p:nvPr>
        </p:nvSpPr>
        <p:spPr/>
        <p:txBody>
          <a:bodyPr/>
          <a:lstStyle/>
          <a:p>
            <a:r>
              <a:rPr lang="en-IN" dirty="0"/>
              <a:t>Deployment &amp; Release</a:t>
            </a:r>
          </a:p>
        </p:txBody>
      </p:sp>
      <p:sp>
        <p:nvSpPr>
          <p:cNvPr id="3" name="Content Placeholder 2">
            <a:extLst>
              <a:ext uri="{FF2B5EF4-FFF2-40B4-BE49-F238E27FC236}">
                <a16:creationId xmlns:a16="http://schemas.microsoft.com/office/drawing/2014/main" id="{3FBF0DD8-2D1A-88E8-7784-8542D4BFD859}"/>
              </a:ext>
            </a:extLst>
          </p:cNvPr>
          <p:cNvSpPr>
            <a:spLocks noGrp="1"/>
          </p:cNvSpPr>
          <p:nvPr>
            <p:ph idx="1"/>
          </p:nvPr>
        </p:nvSpPr>
        <p:spPr>
          <a:xfrm>
            <a:off x="1066800" y="1759226"/>
            <a:ext cx="3336235" cy="4363278"/>
          </a:xfrm>
        </p:spPr>
        <p:txBody>
          <a:bodyPr>
            <a:normAutofit/>
          </a:bodyPr>
          <a:lstStyle/>
          <a:p>
            <a:r>
              <a:rPr lang="en-IN" sz="1800" b="1" dirty="0">
                <a:solidFill>
                  <a:schemeClr val="tx1">
                    <a:lumMod val="95000"/>
                    <a:lumOff val="5000"/>
                  </a:schemeClr>
                </a:solidFill>
              </a:rPr>
              <a:t>Deployment Checklist: </a:t>
            </a:r>
          </a:p>
          <a:p>
            <a:r>
              <a:rPr lang="en-IN" sz="1800" dirty="0"/>
              <a:t>Code merged</a:t>
            </a:r>
          </a:p>
          <a:p>
            <a:r>
              <a:rPr lang="en-IN" sz="1800" dirty="0"/>
              <a:t>Tested</a:t>
            </a:r>
          </a:p>
          <a:p>
            <a:r>
              <a:rPr lang="en-IN" sz="1800" dirty="0"/>
              <a:t>Version tagged v1.0</a:t>
            </a:r>
          </a:p>
        </p:txBody>
      </p:sp>
      <p:sp>
        <p:nvSpPr>
          <p:cNvPr id="5" name="TextBox 4">
            <a:extLst>
              <a:ext uri="{FF2B5EF4-FFF2-40B4-BE49-F238E27FC236}">
                <a16:creationId xmlns:a16="http://schemas.microsoft.com/office/drawing/2014/main" id="{5F77F7A3-2701-2F6C-34A5-C3F0451DC609}"/>
              </a:ext>
            </a:extLst>
          </p:cNvPr>
          <p:cNvSpPr txBox="1"/>
          <p:nvPr/>
        </p:nvSpPr>
        <p:spPr>
          <a:xfrm>
            <a:off x="5923721" y="2014194"/>
            <a:ext cx="4860236" cy="3416320"/>
          </a:xfrm>
          <a:prstGeom prst="rect">
            <a:avLst/>
          </a:prstGeom>
          <a:noFill/>
        </p:spPr>
        <p:txBody>
          <a:bodyPr wrap="square" rtlCol="0">
            <a:spAutoFit/>
          </a:bodyPr>
          <a:lstStyle/>
          <a:p>
            <a:r>
              <a:rPr lang="en-IN" sz="2000" dirty="0"/>
              <a:t>Release Notes: </a:t>
            </a:r>
          </a:p>
          <a:p>
            <a:pPr marL="742950" lvl="1" indent="-285750">
              <a:buFont typeface="Arial" panose="020B0604020202020204" pitchFamily="34" charset="0"/>
              <a:buChar char="•"/>
            </a:pPr>
            <a:r>
              <a:rPr lang="en-IN" sz="2000" dirty="0"/>
              <a:t>Version: v1.0</a:t>
            </a:r>
          </a:p>
          <a:p>
            <a:pPr marL="742950" lvl="1" indent="-285750">
              <a:buFont typeface="Arial" panose="020B0604020202020204" pitchFamily="34" charset="0"/>
              <a:buChar char="•"/>
            </a:pPr>
            <a:r>
              <a:rPr lang="en-IN" sz="2000" dirty="0"/>
              <a:t>Features</a:t>
            </a:r>
          </a:p>
          <a:p>
            <a:pPr marL="742950" lvl="1" indent="-285750">
              <a:buFont typeface="Arial" panose="020B0604020202020204" pitchFamily="34" charset="0"/>
              <a:buChar char="•"/>
            </a:pPr>
            <a:r>
              <a:rPr lang="en-IN" sz="2000" dirty="0"/>
              <a:t>Patient registration</a:t>
            </a:r>
          </a:p>
          <a:p>
            <a:pPr marL="742950" lvl="1" indent="-285750">
              <a:buFont typeface="Arial" panose="020B0604020202020204" pitchFamily="34" charset="0"/>
              <a:buChar char="•"/>
            </a:pPr>
            <a:r>
              <a:rPr lang="en-IN" sz="2000" dirty="0"/>
              <a:t>View/update/delete records</a:t>
            </a:r>
          </a:p>
          <a:p>
            <a:pPr marL="742950" lvl="1" indent="-285750">
              <a:buFont typeface="Arial" panose="020B0604020202020204" pitchFamily="34" charset="0"/>
              <a:buChar char="•"/>
            </a:pPr>
            <a:r>
              <a:rPr lang="en-IN" sz="2000" dirty="0"/>
              <a:t>Known Issues</a:t>
            </a:r>
          </a:p>
          <a:p>
            <a:pPr marL="742950" lvl="1" indent="-285750">
              <a:buFont typeface="Arial" panose="020B0604020202020204" pitchFamily="34" charset="0"/>
              <a:buChar char="•"/>
            </a:pPr>
            <a:r>
              <a:rPr lang="en-IN" sz="2000" dirty="0"/>
              <a:t>No Database(Uses memory)</a:t>
            </a:r>
          </a:p>
          <a:p>
            <a:pPr marL="742950" lvl="1" indent="-285750">
              <a:buFont typeface="Arial" panose="020B0604020202020204" pitchFamily="34" charset="0"/>
              <a:buChar char="•"/>
            </a:pPr>
            <a:r>
              <a:rPr lang="en-IN" sz="2000" dirty="0"/>
              <a:t>Next Update</a:t>
            </a:r>
          </a:p>
          <a:p>
            <a:pPr marL="742950" lvl="1" indent="-285750">
              <a:buFont typeface="Arial" panose="020B0604020202020204" pitchFamily="34" charset="0"/>
              <a:buChar char="•"/>
            </a:pPr>
            <a:r>
              <a:rPr lang="en-IN" sz="2000" dirty="0"/>
              <a:t>File handling</a:t>
            </a:r>
          </a:p>
          <a:p>
            <a:pPr marL="742950" lvl="1" indent="-285750">
              <a:buFont typeface="Arial" panose="020B0604020202020204" pitchFamily="34" charset="0"/>
              <a:buChar char="•"/>
            </a:pPr>
            <a:r>
              <a:rPr lang="en-IN" sz="2000" dirty="0"/>
              <a:t>Login system</a:t>
            </a:r>
          </a:p>
          <a:p>
            <a:endParaRPr lang="en-IN" dirty="0"/>
          </a:p>
        </p:txBody>
      </p:sp>
    </p:spTree>
    <p:extLst>
      <p:ext uri="{BB962C8B-B14F-4D97-AF65-F5344CB8AC3E}">
        <p14:creationId xmlns:p14="http://schemas.microsoft.com/office/powerpoint/2010/main" val="2770839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35BFD-FDB4-0F57-EDE3-22F9FB6FE02A}"/>
              </a:ext>
            </a:extLst>
          </p:cNvPr>
          <p:cNvSpPr>
            <a:spLocks noGrp="1"/>
          </p:cNvSpPr>
          <p:nvPr>
            <p:ph type="title"/>
          </p:nvPr>
        </p:nvSpPr>
        <p:spPr/>
        <p:txBody>
          <a:bodyPr/>
          <a:lstStyle/>
          <a:p>
            <a:r>
              <a:rPr lang="en-IN" dirty="0"/>
              <a:t>Maintenance &amp; Reflection</a:t>
            </a:r>
          </a:p>
        </p:txBody>
      </p:sp>
      <p:graphicFrame>
        <p:nvGraphicFramePr>
          <p:cNvPr id="4" name="Content Placeholder 3">
            <a:extLst>
              <a:ext uri="{FF2B5EF4-FFF2-40B4-BE49-F238E27FC236}">
                <a16:creationId xmlns:a16="http://schemas.microsoft.com/office/drawing/2014/main" id="{D299BF77-521A-7DA6-0EC4-515B3BF1A568}"/>
              </a:ext>
            </a:extLst>
          </p:cNvPr>
          <p:cNvGraphicFramePr>
            <a:graphicFrameLocks noGrp="1"/>
          </p:cNvGraphicFramePr>
          <p:nvPr>
            <p:ph idx="1"/>
            <p:extLst>
              <p:ext uri="{D42A27DB-BD31-4B8C-83A1-F6EECF244321}">
                <p14:modId xmlns:p14="http://schemas.microsoft.com/office/powerpoint/2010/main" val="501433289"/>
              </p:ext>
            </p:extLst>
          </p:nvPr>
        </p:nvGraphicFramePr>
        <p:xfrm>
          <a:off x="1066800" y="2103438"/>
          <a:ext cx="10058397" cy="741680"/>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1402195564"/>
                    </a:ext>
                  </a:extLst>
                </a:gridCol>
                <a:gridCol w="3352799">
                  <a:extLst>
                    <a:ext uri="{9D8B030D-6E8A-4147-A177-3AD203B41FA5}">
                      <a16:colId xmlns:a16="http://schemas.microsoft.com/office/drawing/2014/main" val="2861390617"/>
                    </a:ext>
                  </a:extLst>
                </a:gridCol>
                <a:gridCol w="3352799">
                  <a:extLst>
                    <a:ext uri="{9D8B030D-6E8A-4147-A177-3AD203B41FA5}">
                      <a16:colId xmlns:a16="http://schemas.microsoft.com/office/drawing/2014/main" val="1888046368"/>
                    </a:ext>
                  </a:extLst>
                </a:gridCol>
              </a:tblGrid>
              <a:tr h="370840">
                <a:tc>
                  <a:txBody>
                    <a:bodyPr/>
                    <a:lstStyle/>
                    <a:p>
                      <a:r>
                        <a:rPr lang="en-IN" dirty="0"/>
                        <a:t>Issue</a:t>
                      </a:r>
                    </a:p>
                  </a:txBody>
                  <a:tcPr/>
                </a:tc>
                <a:tc>
                  <a:txBody>
                    <a:bodyPr/>
                    <a:lstStyle/>
                    <a:p>
                      <a:r>
                        <a:rPr lang="en-IN" dirty="0"/>
                        <a:t>Fix</a:t>
                      </a:r>
                    </a:p>
                  </a:txBody>
                  <a:tcPr/>
                </a:tc>
                <a:tc>
                  <a:txBody>
                    <a:bodyPr/>
                    <a:lstStyle/>
                    <a:p>
                      <a:r>
                        <a:rPr lang="en-IN" dirty="0"/>
                        <a:t>Status</a:t>
                      </a:r>
                    </a:p>
                  </a:txBody>
                  <a:tcPr/>
                </a:tc>
                <a:extLst>
                  <a:ext uri="{0D108BD9-81ED-4DB2-BD59-A6C34878D82A}">
                    <a16:rowId xmlns:a16="http://schemas.microsoft.com/office/drawing/2014/main" val="2275971450"/>
                  </a:ext>
                </a:extLst>
              </a:tr>
              <a:tr h="370840">
                <a:tc>
                  <a:txBody>
                    <a:bodyPr/>
                    <a:lstStyle/>
                    <a:p>
                      <a:r>
                        <a:rPr lang="en-IN" dirty="0"/>
                        <a:t>Input error</a:t>
                      </a:r>
                    </a:p>
                  </a:txBody>
                  <a:tcPr/>
                </a:tc>
                <a:tc>
                  <a:txBody>
                    <a:bodyPr/>
                    <a:lstStyle/>
                    <a:p>
                      <a:r>
                        <a:rPr lang="en-IN" dirty="0"/>
                        <a:t>Validation method</a:t>
                      </a:r>
                    </a:p>
                  </a:txBody>
                  <a:tcPr/>
                </a:tc>
                <a:tc>
                  <a:txBody>
                    <a:bodyPr/>
                    <a:lstStyle/>
                    <a:p>
                      <a:r>
                        <a:rPr lang="en-IN" dirty="0"/>
                        <a:t>Done</a:t>
                      </a:r>
                    </a:p>
                  </a:txBody>
                  <a:tcPr/>
                </a:tc>
                <a:extLst>
                  <a:ext uri="{0D108BD9-81ED-4DB2-BD59-A6C34878D82A}">
                    <a16:rowId xmlns:a16="http://schemas.microsoft.com/office/drawing/2014/main" val="3252782150"/>
                  </a:ext>
                </a:extLst>
              </a:tr>
            </a:tbl>
          </a:graphicData>
        </a:graphic>
      </p:graphicFrame>
      <p:sp>
        <p:nvSpPr>
          <p:cNvPr id="5" name="TextBox 4">
            <a:extLst>
              <a:ext uri="{FF2B5EF4-FFF2-40B4-BE49-F238E27FC236}">
                <a16:creationId xmlns:a16="http://schemas.microsoft.com/office/drawing/2014/main" id="{7BA0261A-F652-7C55-A8D7-E266D1F6E1EA}"/>
              </a:ext>
            </a:extLst>
          </p:cNvPr>
          <p:cNvSpPr txBox="1"/>
          <p:nvPr/>
        </p:nvSpPr>
        <p:spPr>
          <a:xfrm>
            <a:off x="1066800" y="3210339"/>
            <a:ext cx="4191000" cy="1200329"/>
          </a:xfrm>
          <a:prstGeom prst="rect">
            <a:avLst/>
          </a:prstGeom>
          <a:noFill/>
        </p:spPr>
        <p:txBody>
          <a:bodyPr wrap="square" rtlCol="0">
            <a:spAutoFit/>
          </a:bodyPr>
          <a:lstStyle/>
          <a:p>
            <a:r>
              <a:rPr lang="en-IN" dirty="0"/>
              <a:t>Team Retrospective:</a:t>
            </a:r>
          </a:p>
          <a:p>
            <a:pPr marL="285750" indent="-285750">
              <a:buFont typeface="Arial" panose="020B0604020202020204" pitchFamily="34" charset="0"/>
              <a:buChar char="•"/>
            </a:pPr>
            <a:r>
              <a:rPr lang="en-IN" dirty="0"/>
              <a:t>What worked well: Simple design</a:t>
            </a:r>
          </a:p>
          <a:p>
            <a:pPr marL="285750" indent="-285750">
              <a:buFont typeface="Arial" panose="020B0604020202020204" pitchFamily="34" charset="0"/>
              <a:buChar char="•"/>
            </a:pPr>
            <a:r>
              <a:rPr lang="en-IN" dirty="0"/>
              <a:t>Improvement needed: GUI</a:t>
            </a:r>
          </a:p>
          <a:p>
            <a:pPr marL="285750" indent="-285750">
              <a:buFont typeface="Arial" panose="020B0604020202020204" pitchFamily="34" charset="0"/>
              <a:buChar char="•"/>
            </a:pPr>
            <a:r>
              <a:rPr lang="en-IN" dirty="0"/>
              <a:t>Next time: Add database</a:t>
            </a:r>
          </a:p>
        </p:txBody>
      </p:sp>
    </p:spTree>
    <p:extLst>
      <p:ext uri="{BB962C8B-B14F-4D97-AF65-F5344CB8AC3E}">
        <p14:creationId xmlns:p14="http://schemas.microsoft.com/office/powerpoint/2010/main" val="8581770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6">
    <a:dk1>
      <a:sysClr val="windowText" lastClr="000000"/>
    </a:dk1>
    <a:lt1>
      <a:sysClr val="window" lastClr="FFFFFF"/>
    </a:lt1>
    <a:dk2>
      <a:srgbClr val="121316"/>
    </a:dk2>
    <a:lt2>
      <a:srgbClr val="FEFCF7"/>
    </a:lt2>
    <a:accent1>
      <a:srgbClr val="8394A4"/>
    </a:accent1>
    <a:accent2>
      <a:srgbClr val="65739F"/>
    </a:accent2>
    <a:accent3>
      <a:srgbClr val="B2AC8A"/>
    </a:accent3>
    <a:accent4>
      <a:srgbClr val="879BB3"/>
    </a:accent4>
    <a:accent5>
      <a:srgbClr val="D7B579"/>
    </a:accent5>
    <a:accent6>
      <a:srgbClr val="8A9B89"/>
    </a:accent6>
    <a:hlink>
      <a:srgbClr val="85C4D2"/>
    </a:hlink>
    <a:folHlink>
      <a:srgbClr val="8E8CA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59D436-C82E-43E0-8A01-53DF9CED6032}">
  <ds:schemaRefs>
    <ds:schemaRef ds:uri="http://schemas.microsoft.com/sharepoint/v3/contenttype/forms"/>
  </ds:schemaRefs>
</ds:datastoreItem>
</file>

<file path=customXml/itemProps2.xml><?xml version="1.0" encoding="utf-8"?>
<ds:datastoreItem xmlns:ds="http://schemas.openxmlformats.org/officeDocument/2006/customXml" ds:itemID="{946BCBFB-BBC7-42F1-95CD-058E172363A0}">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{77CA871D-EB41-4DDE-8F75-3F87B26CC0BF}tf11531919_win32</Template>
  <TotalTime>36</TotalTime>
  <Words>462</Words>
  <Application>Microsoft Office PowerPoint</Application>
  <PresentationFormat>Widescreen</PresentationFormat>
  <Paragraphs>137</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Avenir Next LT Pro</vt:lpstr>
      <vt:lpstr>Avenir Next LT Pro Light</vt:lpstr>
      <vt:lpstr>Calibri</vt:lpstr>
      <vt:lpstr>Garamond</vt:lpstr>
      <vt:lpstr>Wingdings</vt:lpstr>
      <vt:lpstr>SavonVTI</vt:lpstr>
      <vt:lpstr>Hospital Patient Management System</vt:lpstr>
      <vt:lpstr>Introduction</vt:lpstr>
      <vt:lpstr>Stake holder Interview</vt:lpstr>
      <vt:lpstr>Extract requirements</vt:lpstr>
      <vt:lpstr>System Design</vt:lpstr>
      <vt:lpstr>Development phase</vt:lpstr>
      <vt:lpstr>Testing Phase</vt:lpstr>
      <vt:lpstr>Deployment &amp; Release</vt:lpstr>
      <vt:lpstr>Maintenance &amp;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Tara Thangidigi</dc:creator>
  <cp:lastModifiedBy>Tara Thangidigi</cp:lastModifiedBy>
  <cp:revision>1</cp:revision>
  <dcterms:created xsi:type="dcterms:W3CDTF">2025-12-30T08:17:54Z</dcterms:created>
  <dcterms:modified xsi:type="dcterms:W3CDTF">2025-12-30T08:54:33Z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